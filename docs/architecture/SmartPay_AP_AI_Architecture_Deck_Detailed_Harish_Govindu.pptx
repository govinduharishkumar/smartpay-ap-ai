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9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5446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Acme Manufacturing operates in 25 countries and processes approximately 1 million supplier invoices every month across multiple ERP ecosystems.</a:t>
            </a:r>
          </a:p>
          <a:p>
            <a:pPr>
              <a:defRPr sz="1600"/>
            </a:pPr>
            <a:r>
              <a:rPr dirty="0"/>
              <a:t>The current AP process relies heavily on manual reconciliation, delayed dispute resolution, and fragmented integrations between SAP and Oracle systems.</a:t>
            </a:r>
          </a:p>
          <a:p>
            <a:pPr>
              <a:defRPr sz="1600"/>
            </a:pPr>
            <a:r>
              <a:rPr dirty="0"/>
              <a:t>The proposed </a:t>
            </a:r>
            <a:r>
              <a:rPr dirty="0" err="1"/>
              <a:t>SmartPay</a:t>
            </a:r>
            <a:r>
              <a:rPr dirty="0"/>
              <a:t> AP platform introduces a governed Agentic AI architecture for invoice extraction, reconciliation, explanation generation, and payment workflow orchestration.</a:t>
            </a:r>
          </a:p>
          <a:p>
            <a:pPr>
              <a:defRPr sz="1600"/>
            </a:pPr>
            <a:r>
              <a:rPr dirty="0"/>
              <a:t>The platform combines deterministic enterprise workflows with AI-assisted reasoning while preserving auditability and financial governance.</a:t>
            </a:r>
          </a:p>
          <a:p>
            <a:pPr>
              <a:defRPr sz="1600"/>
            </a:pPr>
            <a:r>
              <a:rPr dirty="0"/>
              <a:t>The solution is designed for Azure + AWS multi-cloud deployment with centralized </a:t>
            </a:r>
            <a:r>
              <a:rPr dirty="0" err="1"/>
              <a:t>MLOps</a:t>
            </a:r>
            <a:r>
              <a:rPr dirty="0"/>
              <a:t>, monitoring, and GDPR compliance controls.</a:t>
            </a:r>
          </a:p>
          <a:p>
            <a:pPr>
              <a:defRPr sz="1600"/>
            </a:pPr>
            <a:r>
              <a:rPr dirty="0"/>
              <a:t>Primary business goals include reducing invoice processing time, improving reconciliation accuracy, minimizing operational overhead, and accelerating vendor dispute resolution.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Architecture Principles &amp; Design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59"/>
            <a:ext cx="84850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The architecture prioritizes deterministic AI workflows because financial systems require explainability, auditability, and predictable execution paths.</a:t>
            </a:r>
          </a:p>
          <a:p>
            <a:pPr>
              <a:defRPr sz="1600"/>
            </a:pPr>
            <a:r>
              <a:rPr dirty="0"/>
              <a:t>Human-in-the-loop approval gates are enforced for low-confidence reconciliation decisions and all financially sensitive actions.</a:t>
            </a:r>
          </a:p>
          <a:p>
            <a:pPr>
              <a:defRPr sz="1600"/>
            </a:pPr>
            <a:r>
              <a:rPr dirty="0"/>
              <a:t>The platform follows a modular microservices architecture enabling independent deployment, scalability, and operational isolation.</a:t>
            </a:r>
          </a:p>
          <a:p>
            <a:pPr>
              <a:defRPr sz="1600"/>
            </a:pPr>
            <a:r>
              <a:rPr dirty="0"/>
              <a:t>Responsible AI principles are embedded across the lifecycle including PII masking, prompt filtering, audit logging, and bias monitoring.</a:t>
            </a:r>
          </a:p>
          <a:p>
            <a:pPr>
              <a:defRPr sz="1600"/>
            </a:pPr>
            <a:r>
              <a:rPr dirty="0"/>
              <a:t>The system is designed with observability-first principles using centralized telemetry, workflow tracing, and operational dashboards.</a:t>
            </a:r>
          </a:p>
          <a:p>
            <a:pPr>
              <a:defRPr sz="1600"/>
            </a:pPr>
            <a:r>
              <a:rPr dirty="0"/>
              <a:t>Multi-cloud architecture improves resiliency and reduces vendor lock-in while maintaining operational simplicity for the MVP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End-to-End 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4149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Invoices are received through multiple enterprise channels including PDFs, vendor emails, and EDI feeds.</a:t>
            </a:r>
          </a:p>
          <a:p>
            <a:pPr>
              <a:defRPr sz="1600"/>
            </a:pPr>
            <a:r>
              <a:t>Azure Document Intelligence and parser services extract invoice entities such as vendor details, invoice amount, tax, currency, and PO references.</a:t>
            </a:r>
          </a:p>
          <a:p>
            <a:pPr>
              <a:defRPr sz="1600"/>
            </a:pPr>
            <a:r>
              <a:t>Extracted data is transformed into a canonical invoice schema before entering downstream AI reconciliation workflows.</a:t>
            </a:r>
          </a:p>
          <a:p>
            <a:pPr>
              <a:defRPr sz="1600"/>
            </a:pPr>
            <a:r>
              <a:t>The matching engine validates invoice data against PO and GRN records from SAP and Oracle ERP systems.</a:t>
            </a:r>
          </a:p>
          <a:p>
            <a:pPr>
              <a:defRPr sz="1600"/>
            </a:pPr>
            <a:r>
              <a:t>Mismatch explanations are generated using LLM-assisted reasoning with deterministic validation layers to prevent hallucinations.</a:t>
            </a:r>
          </a:p>
          <a:p>
            <a:pPr>
              <a:defRPr sz="1600"/>
            </a:pPr>
            <a:r>
              <a:t>Vendor dispute emails are automatically drafted and routed through human approval before ERP payment workflows are triggered.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High-Level 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42824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Input Layer supports ingestion from PDFs, emails, EDI streams, and enterprise vendor portals.</a:t>
            </a:r>
          </a:p>
          <a:p>
            <a:pPr>
              <a:defRPr sz="1600"/>
            </a:pPr>
            <a:r>
              <a:t>The Extraction Layer uses OCR, email parsing, and EDI transformation services to convert semi-structured content into machine-readable data.</a:t>
            </a:r>
          </a:p>
          <a:p>
            <a:pPr>
              <a:defRPr sz="1600"/>
            </a:pPr>
            <a:r>
              <a:t>The Normalization Layer standardizes all invoice formats into a unified JSON schema to simplify downstream processing.</a:t>
            </a:r>
          </a:p>
          <a:p>
            <a:pPr>
              <a:defRPr sz="1600"/>
            </a:pPr>
            <a:r>
              <a:t>The Matching Engine combines deterministic validation rules with lightweight ML similarity scoring for invoice-to-PO reconciliation.</a:t>
            </a:r>
          </a:p>
          <a:p>
            <a:pPr>
              <a:defRPr sz="1600"/>
            </a:pPr>
            <a:r>
              <a:t>The Agentic Orchestration Layer coordinates reconciliation workflows, explanation generation, dispute drafting, and approval handling using LangGraph.</a:t>
            </a:r>
          </a:p>
          <a:p>
            <a:pPr>
              <a:defRPr sz="1600"/>
            </a:pPr>
            <a:r>
              <a:t>The Governance Layer provides auditability, observability, security enforcement, monitoring, and compliance management across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Data Ingestion &amp; Extraction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3222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Azure Document Intelligence is selected for enterprise-grade OCR accuracy, multilingual invoice support, and structured form extraction.</a:t>
            </a:r>
          </a:p>
          <a:p>
            <a:pPr>
              <a:defRPr sz="1600"/>
            </a:pPr>
            <a:r>
              <a:t>Microsoft Graph API is used for secure ingestion of vendor emails and attachment processing workflows.</a:t>
            </a:r>
          </a:p>
          <a:p>
            <a:pPr>
              <a:defRPr sz="1600"/>
            </a:pPr>
            <a:r>
              <a:t>EDI feeds are parsed through a dedicated translation microservice supporting industry-standard formats such as EDIFACT and X12.</a:t>
            </a:r>
          </a:p>
          <a:p>
            <a:pPr>
              <a:defRPr sz="1600"/>
            </a:pPr>
            <a:r>
              <a:t>Document classification services determine invoice type, region, vendor category, and processing strategy before extraction begins.</a:t>
            </a:r>
          </a:p>
          <a:p>
            <a:pPr>
              <a:defRPr sz="1600"/>
            </a:pPr>
            <a:r>
              <a:t>Extracted invoice data is validated against schema rules before canonical transformation into normalized invoice objects.</a:t>
            </a:r>
          </a:p>
          <a:p>
            <a:pPr>
              <a:defRPr sz="1600"/>
            </a:pPr>
            <a:r>
              <a:t>Normalization removes downstream complexity and ensures all reconciliation services operate on consistent structured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Matching &amp; Reconciliation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4025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reconciliation engine combines deterministic rules with lightweight ML similarity scoring to improve explainability and operational trust.</a:t>
            </a:r>
          </a:p>
          <a:p>
            <a:pPr>
              <a:defRPr sz="1600"/>
            </a:pPr>
            <a:r>
              <a:t>Rule-based validation includes exact PO matching, amount validation thresholds, tax consistency checks, currency validation, and date alignment.</a:t>
            </a:r>
          </a:p>
          <a:p>
            <a:pPr>
              <a:defRPr sz="1600"/>
            </a:pPr>
            <a:r>
              <a:t>ML-based similarity scoring supports vendor fuzzy matching, semantic line-item comparison, and anomaly detection.</a:t>
            </a:r>
          </a:p>
          <a:p>
            <a:pPr>
              <a:defRPr sz="1600"/>
            </a:pPr>
            <a:r>
              <a:t>XGBoost or RandomForest models are recommended because they provide faster MVP implementation and easier explainability than deep learning approaches.</a:t>
            </a:r>
          </a:p>
          <a:p>
            <a:pPr>
              <a:defRPr sz="1600"/>
            </a:pPr>
            <a:r>
              <a:t>Mismatch explanations are generated in business-readable language such as amount discrepancies, currency mismatches, or missing GRN records.</a:t>
            </a:r>
          </a:p>
          <a:p>
            <a:pPr>
              <a:defRPr sz="1600"/>
            </a:pPr>
            <a:r>
              <a:t>The model is evaluated using precision, recall, F1-score, and false-positive monitoring to ensure enterprise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Agentic AI Orchestration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4705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LangGraph is selected because it supports deterministic stateful orchestration, human approval checkpoints, retries, and workflow traceability.</a:t>
            </a:r>
          </a:p>
          <a:p>
            <a:pPr>
              <a:defRPr sz="1600"/>
            </a:pPr>
            <a:r>
              <a:t>The Intake Agent classifies incoming documents and routes them to the appropriate extraction workflow.</a:t>
            </a:r>
          </a:p>
          <a:p>
            <a:pPr>
              <a:defRPr sz="1600"/>
            </a:pPr>
            <a:r>
              <a:t>The Reconciliation Agent invokes the matching engine and validates confidence thresholds before proceeding.</a:t>
            </a:r>
          </a:p>
          <a:p>
            <a:pPr>
              <a:defRPr sz="1600"/>
            </a:pPr>
            <a:r>
              <a:t>The Explanation Agent generates mismatch reasoning while deterministic validators verify factual consistency.</a:t>
            </a:r>
          </a:p>
          <a:p>
            <a:pPr>
              <a:defRPr sz="1600"/>
            </a:pPr>
            <a:r>
              <a:t>The Dispute Email Agent drafts vendor communication using enterprise-approved prompt templates and policy enforcement.</a:t>
            </a:r>
          </a:p>
          <a:p>
            <a:pPr>
              <a:defRPr sz="1600"/>
            </a:pPr>
            <a:r>
              <a:t>Human Approval Nodes pause workflows for manual validation before triggering ERP updates or payment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Multi-Cloud &amp; Infrastructure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3964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Azure serves as the primary AI execution platform hosting Azure OpenAI, Azure Document Intelligence, AKS, Blob Storage, and Event Hub services.</a:t>
            </a:r>
          </a:p>
          <a:p>
            <a:pPr>
              <a:defRPr sz="1600"/>
            </a:pPr>
            <a:r>
              <a:t>AWS is used for disaster recovery, Bedrock-based fallback LLM execution, S3 replication, and analytics workloads.</a:t>
            </a:r>
          </a:p>
          <a:p>
            <a:pPr>
              <a:defRPr sz="1600"/>
            </a:pPr>
            <a:r>
              <a:t>The architecture follows an active-passive multi-cloud deployment strategy to reduce operational complexity during the MVP phase.</a:t>
            </a:r>
          </a:p>
          <a:p>
            <a:pPr>
              <a:defRPr sz="1600"/>
            </a:pPr>
            <a:r>
              <a:t>Containerized microservices are deployed using Kubernetes orchestration across AKS and EKS environments.</a:t>
            </a:r>
          </a:p>
          <a:p>
            <a:pPr>
              <a:defRPr sz="1600"/>
            </a:pPr>
            <a:r>
              <a:t>Terraform is proposed for Infrastructure-as-Code to standardize provisioning and improve repeatability across cloud environments.</a:t>
            </a:r>
          </a:p>
          <a:p>
            <a:pPr>
              <a:defRPr sz="1600"/>
            </a:pPr>
            <a:r>
              <a:t>Centralized CI/CD pipelines using GitHub Actions automate model deployment, validation, and workflow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Security, GDPR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38405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platform enforces role-based access controls integrated with enterprise identity providers such as Azure AD.</a:t>
            </a:r>
          </a:p>
          <a:p>
            <a:pPr>
              <a:defRPr sz="1600"/>
            </a:pPr>
            <a:r>
              <a:t>All sensitive financial data is encrypted using AES-256 encryption at rest and TLS 1.3 encryption in transit.</a:t>
            </a:r>
          </a:p>
          <a:p>
            <a:pPr>
              <a:defRPr sz="1600"/>
            </a:pPr>
            <a:r>
              <a:t>PII masking and tokenization are applied before LLM invocation to minimize privacy exposure.</a:t>
            </a:r>
          </a:p>
          <a:p>
            <a:pPr>
              <a:defRPr sz="1600"/>
            </a:pPr>
            <a:r>
              <a:t>GDPR controls include regional data residency enforcement, retention management, consent handling, and right-to-erasure workflows.</a:t>
            </a:r>
          </a:p>
          <a:p>
            <a:pPr>
              <a:defRPr sz="1600"/>
            </a:pPr>
            <a:r>
              <a:t>Prompt injection prevention mechanisms sanitize suspicious invoice content, embedded scripts, and malicious hidden instructions.</a:t>
            </a:r>
          </a:p>
          <a:p>
            <a:pPr>
              <a:defRPr sz="1600"/>
            </a:pPr>
            <a:r>
              <a:t>Responsible AI governance includes hallucination prevention, audit logging, bias monitoring, and mandatory human approval for critical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MLOps, Monitoring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3655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MLflow is used as the centralized model registry supporting version control, deployment tracking, and rollback management.</a:t>
            </a:r>
          </a:p>
          <a:p>
            <a:pPr>
              <a:defRPr sz="1600"/>
            </a:pPr>
            <a:r>
              <a:t>Prometheus and Grafana provide operational metrics, workflow dashboards, infrastructure telemetry, and SLA monitoring.</a:t>
            </a:r>
          </a:p>
          <a:p>
            <a:pPr>
              <a:defRPr sz="1600"/>
            </a:pPr>
            <a:r>
              <a:t>LangSmith or OpenTelemetry tracing captures agent execution flows, tool invocations, and workflow decision chains.</a:t>
            </a:r>
          </a:p>
          <a:p>
            <a:pPr>
              <a:defRPr sz="1600"/>
            </a:pPr>
            <a:r>
              <a:t>EvidentlyAI monitors model drift, reconciliation degradation, and confidence-score anomalies over time.</a:t>
            </a:r>
          </a:p>
          <a:p>
            <a:pPr>
              <a:defRPr sz="1600"/>
            </a:pPr>
            <a:r>
              <a:t>Centralized audit logging ensures every AI decision, workflow transition, and ERP integration event is traceable.</a:t>
            </a:r>
          </a:p>
          <a:p>
            <a:pPr>
              <a:defRPr sz="1600"/>
            </a:pPr>
            <a:r>
              <a:t>Operational KPIs include reconciliation latency, escalation rate, token consumption, cloud cost utilization, and workflow success 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Failure Handling &amp; Architectural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48291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OCR extraction failures trigger retry workflows and fallback parsers before escalating to manual review queues.</a:t>
            </a:r>
          </a:p>
          <a:p>
            <a:pPr>
              <a:defRPr sz="1600"/>
            </a:pPr>
            <a:r>
              <a:t>Low-confidence reconciliation outcomes automatically route to human reviewers to prevent unsafe financial decisions.</a:t>
            </a:r>
          </a:p>
          <a:p>
            <a:pPr>
              <a:defRPr sz="1600"/>
            </a:pPr>
            <a:r>
              <a:t>ERP outages are handled through asynchronous queues, retry mechanisms, and dead-letter workflows.</a:t>
            </a:r>
          </a:p>
          <a:p>
            <a:pPr>
              <a:defRPr sz="1600"/>
            </a:pPr>
            <a:r>
              <a:t>Bedrock-based fallback LLM services provide resiliency during Azure OpenAI service degradation scenarios.</a:t>
            </a:r>
          </a:p>
          <a:p>
            <a:pPr>
              <a:defRPr sz="1600"/>
            </a:pPr>
            <a:r>
              <a:t>LangGraph was selected over CrewAI because finance workflows require deterministic orchestration rather than highly autonomous agent collaboration.</a:t>
            </a:r>
          </a:p>
          <a:p>
            <a:pPr>
              <a:defRPr sz="1600"/>
            </a:pPr>
            <a:r>
              <a:t>Lightweight ML models were prioritized over deep learning because explainability, governance, and faster MVP delivery were more important than marginal accuracy gains.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_watermark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144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Roadmap, Business Impact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48291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MVP scope includes invoice extraction, PO reconciliation, AI-assisted mismatch explanation, dispute drafting, human approvals, and ERP workflow integration.</a:t>
            </a:r>
          </a:p>
          <a:p>
            <a:pPr>
              <a:defRPr sz="1600"/>
            </a:pPr>
            <a:r>
              <a:t>Expected business outcomes include 60–70% reduction in invoice processing time and significant reduction in manual reconciliation effort.</a:t>
            </a:r>
          </a:p>
          <a:p>
            <a:pPr>
              <a:defRPr sz="1600"/>
            </a:pPr>
            <a:r>
              <a:t>Operational improvements include faster vendor dispute resolution, higher audit readiness, and improved finance team productivity.</a:t>
            </a:r>
          </a:p>
          <a:p>
            <a:pPr>
              <a:defRPr sz="1600"/>
            </a:pPr>
            <a:r>
              <a:t>Future roadmap enhancements include fraud detection, multilingual support, supplier behavior analytics, and reinforcement-learning optimization.</a:t>
            </a:r>
          </a:p>
          <a:p>
            <a:pPr>
              <a:defRPr sz="1600"/>
            </a:pPr>
            <a:r>
              <a:t>The architecture demonstrates how Agentic AI can be operationalized safely inside enterprise financial systems through deterministic workflows and governance controls.</a:t>
            </a:r>
          </a:p>
          <a:p>
            <a:pPr>
              <a:defRPr sz="1600"/>
            </a:pPr>
            <a:r>
              <a:t>SmartPay AP balances automation, explainability, compliance, reliability, and scalability while remaining practical for enterprise MVP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6E6E"/>
                </a:solidFill>
              </a:defRPr>
            </a:pPr>
            <a:r>
              <a:t>Harish Kumar Govindu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1397</Words>
  <Application>Microsoft Office PowerPoint</Application>
  <PresentationFormat>On-screen Show (4:3)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govindu</cp:lastModifiedBy>
  <cp:revision>2</cp:revision>
  <dcterms:created xsi:type="dcterms:W3CDTF">2013-01-27T09:14:16Z</dcterms:created>
  <dcterms:modified xsi:type="dcterms:W3CDTF">2026-05-14T01:23:07Z</dcterms:modified>
  <cp:category/>
</cp:coreProperties>
</file>